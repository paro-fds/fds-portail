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0"/>
    <p:restoredTop sz="94737"/>
  </p:normalViewPr>
  <p:slideViewPr>
    <p:cSldViewPr snapToGrid="0" snapToObjects="1">
      <p:cViewPr varScale="1">
        <p:scale>
          <a:sx n="110" d="100"/>
          <a:sy n="110" d="100"/>
        </p:scale>
        <p:origin x="143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3A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029200" y="228600"/>
            <a:ext cx="38404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A7BEAE"/>
                </a:solidFill>
                <a:latin typeface="Calibri"/>
              </a:rPr>
              <a:t>GL-EN3-2026 · </a:t>
            </a:r>
            <a:r>
              <a:rPr lang="en-CA" sz="900" dirty="0" err="1">
                <a:solidFill>
                  <a:srgbClr val="A7BEAE"/>
                </a:solidFill>
                <a:latin typeface="Calibri"/>
              </a:rPr>
              <a:t>Bravetech</a:t>
            </a:r>
            <a:endParaRPr sz="900" b="0" i="0" dirty="0">
              <a:solidFill>
                <a:srgbClr val="A7BEA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Georgia"/>
              </a:rPr>
              <a:t>FDS Portail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7E8D1"/>
                </a:solidFill>
                <a:latin typeface="Calibri"/>
              </a:rPr>
              <a:t>Du JTBD aux User Stories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4114800" cy="3657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7BEAE"/>
                </a:solidFill>
                <a:latin typeface="Calibri"/>
              </a:rPr>
              <a:t>Persona · Jean Pierre  |  FDS Portail  |  MVP 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3657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1100" b="0" i="1" dirty="0">
                <a:solidFill>
                  <a:srgbClr val="6B6B6B"/>
                </a:solidFill>
                <a:latin typeface="Calibri"/>
              </a:rPr>
              <a:t>Lundi27</a:t>
            </a:r>
            <a:r>
              <a:rPr sz="1100" b="0" i="1" dirty="0">
                <a:solidFill>
                  <a:srgbClr val="6B6B6B"/>
                </a:solidFill>
                <a:latin typeface="Calibri"/>
              </a:rPr>
              <a:t>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7E8D1"/>
                </a:solidFill>
                <a:latin typeface="Calibri"/>
              </a:rPr>
              <a:t>Qui est Jean Pierre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371600" cy="1371600"/>
          </a:xfrm>
          <a:prstGeom prst="rect">
            <a:avLst/>
          </a:prstGeom>
          <a:solidFill>
            <a:srgbClr val="A7B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Georgia"/>
              </a:rPr>
              <a:t>JP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14300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B85042"/>
                </a:solidFill>
                <a:latin typeface="Georgia"/>
              </a:rPr>
              <a:t>Jean Pierre</a:t>
            </a:r>
          </a:p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19 ans  ·  Bachelier</a:t>
            </a:r>
          </a:p>
          <a:p>
            <a:pPr algn="l"/>
            <a:r>
              <a:rPr sz="1300" b="0" i="1">
                <a:solidFill>
                  <a:srgbClr val="6B6B6B"/>
                </a:solidFill>
                <a:latin typeface="Calibri"/>
              </a:rPr>
              <a:t>Province (hors Port-au-Prince)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788920"/>
            <a:ext cx="19202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2788920"/>
            <a:ext cx="1920240" cy="10972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91840" y="2971800"/>
            <a:ext cx="1737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200" dirty="0" err="1">
                <a:solidFill>
                  <a:srgbClr val="2C2C2C"/>
                </a:solidFill>
                <a:latin typeface="Calibri"/>
              </a:rPr>
              <a:t>Informations</a:t>
            </a:r>
            <a:r>
              <a:rPr lang="en-CA" sz="1200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200" dirty="0" err="1">
                <a:solidFill>
                  <a:srgbClr val="2C2C2C"/>
                </a:solidFill>
                <a:latin typeface="Calibri"/>
              </a:rPr>
              <a:t>dispersés</a:t>
            </a:r>
            <a:r>
              <a:rPr lang="en-CA" sz="1200" dirty="0">
                <a:solidFill>
                  <a:srgbClr val="2C2C2C"/>
                </a:solidFill>
                <a:latin typeface="Calibri"/>
              </a:rPr>
              <a:t> et non </a:t>
            </a:r>
            <a:r>
              <a:rPr lang="en-CA" sz="1200" dirty="0" err="1">
                <a:solidFill>
                  <a:srgbClr val="2C2C2C"/>
                </a:solidFill>
                <a:latin typeface="Calibri"/>
              </a:rPr>
              <a:t>fiables</a:t>
            </a:r>
            <a:endParaRPr sz="1200" b="0" i="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074920" y="2788920"/>
            <a:ext cx="19202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74920" y="2788920"/>
            <a:ext cx="1920240" cy="10972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59" y="2971800"/>
            <a:ext cx="1737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rgbClr val="2C2C2C"/>
                </a:solidFill>
                <a:latin typeface="Calibri"/>
              </a:rPr>
              <a:t>Déplacements</a:t>
            </a:r>
            <a:r>
              <a:rPr sz="1200" b="0" i="0" dirty="0">
                <a:solidFill>
                  <a:srgbClr val="2C2C2C"/>
                </a:solidFill>
                <a:latin typeface="Calibri"/>
              </a:rPr>
              <a:t>
co</a:t>
            </a:r>
            <a:r>
              <a:rPr lang="en-CA" sz="1200" b="0" i="0" dirty="0" err="1">
                <a:solidFill>
                  <a:srgbClr val="2C2C2C"/>
                </a:solidFill>
                <a:latin typeface="Calibri"/>
              </a:rPr>
              <a:t>uteux</a:t>
            </a:r>
            <a:r>
              <a:rPr lang="en-CA" sz="1200" b="0" i="0" dirty="0">
                <a:solidFill>
                  <a:srgbClr val="2C2C2C"/>
                </a:solidFill>
                <a:latin typeface="Calibri"/>
              </a:rPr>
              <a:t> et </a:t>
            </a:r>
            <a:r>
              <a:rPr lang="en-CA" sz="1200" b="0" i="0" dirty="0" err="1">
                <a:solidFill>
                  <a:srgbClr val="2C2C2C"/>
                </a:solidFill>
                <a:latin typeface="Calibri"/>
              </a:rPr>
              <a:t>risqués</a:t>
            </a:r>
            <a:endParaRPr sz="1200" b="0" i="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949440" y="2788920"/>
            <a:ext cx="192024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49440" y="2788920"/>
            <a:ext cx="1920240" cy="10972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40879" y="2971800"/>
            <a:ext cx="1737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1200" dirty="0">
                <a:solidFill>
                  <a:srgbClr val="2C2C2C"/>
                </a:solidFill>
                <a:latin typeface="Calibri"/>
              </a:rPr>
              <a:t>Stress </a:t>
            </a:r>
            <a:r>
              <a:rPr lang="en-CA" sz="1200" dirty="0" err="1">
                <a:solidFill>
                  <a:srgbClr val="2C2C2C"/>
                </a:solidFill>
                <a:latin typeface="Calibri"/>
              </a:rPr>
              <a:t>lié</a:t>
            </a:r>
            <a:r>
              <a:rPr lang="en-CA" sz="1200" dirty="0">
                <a:solidFill>
                  <a:srgbClr val="2C2C2C"/>
                </a:solidFill>
                <a:latin typeface="Calibri"/>
              </a:rPr>
              <a:t> aux dates </a:t>
            </a:r>
            <a:r>
              <a:rPr lang="en-CA" sz="1200" dirty="0" err="1">
                <a:solidFill>
                  <a:srgbClr val="2C2C2C"/>
                </a:solidFill>
                <a:latin typeface="Calibri"/>
              </a:rPr>
              <a:t>d’inscription</a:t>
            </a:r>
            <a:endParaRPr sz="1200" b="0" i="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77639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59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27889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D4C5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297680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 dirty="0">
                <a:solidFill>
                  <a:srgbClr val="2C2C2C"/>
                </a:solidFill>
                <a:latin typeface="Calibri"/>
              </a:rPr>
              <a:t>« </a:t>
            </a:r>
            <a:r>
              <a:rPr lang="en-CA" sz="1200" i="1" dirty="0">
                <a:solidFill>
                  <a:srgbClr val="2C2C2C"/>
                </a:solidFill>
                <a:latin typeface="Calibri"/>
              </a:rPr>
              <a:t>Je ne </a:t>
            </a:r>
            <a:r>
              <a:rPr lang="en-CA" sz="1200" i="1" dirty="0" err="1">
                <a:solidFill>
                  <a:srgbClr val="2C2C2C"/>
                </a:solidFill>
                <a:latin typeface="Calibri"/>
              </a:rPr>
              <a:t>sais</a:t>
            </a:r>
            <a:r>
              <a:rPr lang="en-CA" sz="1200" i="1" dirty="0">
                <a:solidFill>
                  <a:srgbClr val="2C2C2C"/>
                </a:solidFill>
                <a:latin typeface="Calibri"/>
              </a:rPr>
              <a:t> pas </a:t>
            </a:r>
            <a:r>
              <a:rPr lang="en-CA" sz="1200" i="1" dirty="0" err="1">
                <a:solidFill>
                  <a:srgbClr val="2C2C2C"/>
                </a:solidFill>
                <a:latin typeface="Calibri"/>
              </a:rPr>
              <a:t>quelles</a:t>
            </a:r>
            <a:r>
              <a:rPr lang="en-CA" sz="1200" i="1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200" i="1" dirty="0" err="1">
                <a:solidFill>
                  <a:srgbClr val="2C2C2C"/>
                </a:solidFill>
                <a:latin typeface="Calibri"/>
              </a:rPr>
              <a:t>informations</a:t>
            </a:r>
            <a:r>
              <a:rPr lang="en-CA" sz="1200" i="1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200" i="1" dirty="0" err="1">
                <a:solidFill>
                  <a:srgbClr val="2C2C2C"/>
                </a:solidFill>
                <a:latin typeface="Calibri"/>
              </a:rPr>
              <a:t>sont</a:t>
            </a:r>
            <a:r>
              <a:rPr lang="en-CA" sz="1200" i="1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200" i="1" dirty="0" err="1">
                <a:solidFill>
                  <a:srgbClr val="2C2C2C"/>
                </a:solidFill>
                <a:latin typeface="Calibri"/>
              </a:rPr>
              <a:t>fiables</a:t>
            </a:r>
            <a:r>
              <a:rPr lang="en-CA" sz="1200" i="1" dirty="0">
                <a:solidFill>
                  <a:srgbClr val="2C2C2C"/>
                </a:solidFill>
                <a:latin typeface="Calibri"/>
              </a:rPr>
              <a:t> pour </a:t>
            </a:r>
            <a:r>
              <a:rPr lang="en-CA" sz="1200" i="1" dirty="0" err="1">
                <a:solidFill>
                  <a:srgbClr val="2C2C2C"/>
                </a:solidFill>
                <a:latin typeface="Calibri"/>
              </a:rPr>
              <a:t>m’inscrire</a:t>
            </a:r>
            <a:r>
              <a:rPr lang="en-CA" sz="1200" i="1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200" i="1" dirty="0" err="1">
                <a:solidFill>
                  <a:srgbClr val="2C2C2C"/>
                </a:solidFill>
                <a:latin typeface="Calibri"/>
              </a:rPr>
              <a:t>à</a:t>
            </a:r>
            <a:r>
              <a:rPr lang="en-CA" sz="1200" i="1" dirty="0">
                <a:solidFill>
                  <a:srgbClr val="2C2C2C"/>
                </a:solidFill>
                <a:latin typeface="Calibri"/>
              </a:rPr>
              <a:t> la FDS sans me </a:t>
            </a:r>
            <a:r>
              <a:rPr lang="en-CA" sz="1200" i="1" dirty="0" err="1">
                <a:solidFill>
                  <a:srgbClr val="2C2C2C"/>
                </a:solidFill>
                <a:latin typeface="Calibri"/>
              </a:rPr>
              <a:t>déplacer</a:t>
            </a:r>
            <a:r>
              <a:rPr lang="en-CA" sz="1200" i="1" dirty="0">
                <a:solidFill>
                  <a:srgbClr val="2C2C2C"/>
                </a:solidFill>
                <a:latin typeface="Calibri"/>
              </a:rPr>
              <a:t>.</a:t>
            </a:r>
            <a:r>
              <a:rPr sz="1200" b="0" i="1" dirty="0">
                <a:solidFill>
                  <a:srgbClr val="2C2C2C"/>
                </a:solidFill>
                <a:latin typeface="Calibri"/>
              </a:rPr>
              <a:t> »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JOBS TO BE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BEAE"/>
                </a:solidFill>
                <a:latin typeface="Calibri"/>
              </a:rPr>
              <a:t>Format Christensen — Quand / Je veux / Afin 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8229600" cy="3291840"/>
          </a:xfrm>
          <a:prstGeom prst="rect">
            <a:avLst/>
          </a:prstGeom>
          <a:solidFill>
            <a:srgbClr val="E7E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09728" cy="329184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Quand je…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1280160"/>
            <a:ext cx="6035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C2C2C"/>
                </a:solidFill>
                <a:latin typeface="Calibri"/>
              </a:rPr>
              <a:t>suis </a:t>
            </a:r>
            <a:r>
              <a:rPr sz="1300" b="0" i="0" dirty="0" err="1">
                <a:solidFill>
                  <a:srgbClr val="2C2C2C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2C2C2C"/>
                </a:solidFill>
                <a:latin typeface="Calibri"/>
              </a:rPr>
              <a:t> province </a:t>
            </a:r>
            <a:r>
              <a:rPr lang="en-CA" sz="1300" dirty="0">
                <a:solidFill>
                  <a:srgbClr val="2C2C2C"/>
                </a:solidFill>
                <a:latin typeface="Calibri"/>
              </a:rPr>
              <a:t>avec un </a:t>
            </a:r>
            <a:r>
              <a:rPr lang="en-CA" sz="1300" dirty="0" err="1">
                <a:solidFill>
                  <a:srgbClr val="2C2C2C"/>
                </a:solidFill>
                <a:latin typeface="Calibri"/>
              </a:rPr>
              <a:t>accès</a:t>
            </a:r>
            <a:r>
              <a:rPr lang="en-CA" sz="1300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300" dirty="0" err="1">
                <a:solidFill>
                  <a:srgbClr val="2C2C2C"/>
                </a:solidFill>
                <a:latin typeface="Calibri"/>
              </a:rPr>
              <a:t>limité</a:t>
            </a:r>
            <a:r>
              <a:rPr lang="en-CA" sz="1300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300" dirty="0" err="1">
                <a:solidFill>
                  <a:srgbClr val="2C2C2C"/>
                </a:solidFill>
                <a:latin typeface="Calibri"/>
              </a:rPr>
              <a:t>à</a:t>
            </a:r>
            <a:r>
              <a:rPr lang="en-CA" sz="1300" dirty="0">
                <a:solidFill>
                  <a:srgbClr val="2C2C2C"/>
                </a:solidFill>
                <a:latin typeface="Calibri"/>
              </a:rPr>
              <a:t> internet et que la </a:t>
            </a:r>
            <a:r>
              <a:rPr lang="en-CA" sz="1300" dirty="0" err="1">
                <a:solidFill>
                  <a:srgbClr val="2C2C2C"/>
                </a:solidFill>
                <a:latin typeface="Calibri"/>
              </a:rPr>
              <a:t>periode</a:t>
            </a:r>
            <a:r>
              <a:rPr lang="en-CA" sz="1300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300" dirty="0" err="1">
                <a:solidFill>
                  <a:srgbClr val="2C2C2C"/>
                </a:solidFill>
                <a:latin typeface="Calibri"/>
              </a:rPr>
              <a:t>d’inscription</a:t>
            </a:r>
            <a:r>
              <a:rPr lang="en-CA" sz="1300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300" dirty="0" err="1">
                <a:solidFill>
                  <a:srgbClr val="2C2C2C"/>
                </a:solidFill>
                <a:latin typeface="Calibri"/>
              </a:rPr>
              <a:t>à</a:t>
            </a:r>
            <a:r>
              <a:rPr lang="en-CA" sz="1300" dirty="0">
                <a:solidFill>
                  <a:srgbClr val="2C2C2C"/>
                </a:solidFill>
                <a:latin typeface="Calibri"/>
              </a:rPr>
              <a:t> la FDS </a:t>
            </a:r>
            <a:r>
              <a:rPr lang="en-CA" sz="1300" dirty="0" err="1">
                <a:solidFill>
                  <a:srgbClr val="2C2C2C"/>
                </a:solidFill>
                <a:latin typeface="Calibri"/>
              </a:rPr>
              <a:t>approche</a:t>
            </a:r>
            <a:r>
              <a:rPr lang="en-CA" sz="1300" dirty="0">
                <a:solidFill>
                  <a:srgbClr val="2C2C2C"/>
                </a:solidFill>
                <a:latin typeface="Calibri"/>
              </a:rPr>
              <a:t>.</a:t>
            </a:r>
            <a:endParaRPr sz="1300" b="0" i="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Je veux…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286000"/>
            <a:ext cx="603504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2C2C2C"/>
                </a:solidFill>
                <a:latin typeface="Calibri"/>
              </a:rPr>
              <a:t>trouver</a:t>
            </a:r>
            <a:r>
              <a:rPr sz="1300" b="0" i="0" dirty="0">
                <a:solidFill>
                  <a:srgbClr val="2C2C2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C2C2C"/>
                </a:solidFill>
                <a:latin typeface="Calibri"/>
              </a:rPr>
              <a:t>en</a:t>
            </a:r>
            <a:r>
              <a:rPr sz="1300" b="0" i="0" dirty="0">
                <a:solidFill>
                  <a:srgbClr val="2C2C2C"/>
                </a:solidFill>
                <a:latin typeface="Calibri"/>
              </a:rPr>
              <a:t> un </a:t>
            </a:r>
            <a:r>
              <a:rPr sz="1300" b="0" i="0" dirty="0" err="1">
                <a:solidFill>
                  <a:srgbClr val="2C2C2C"/>
                </a:solidFill>
                <a:latin typeface="Calibri"/>
              </a:rPr>
              <a:t>seul</a:t>
            </a:r>
            <a:r>
              <a:rPr sz="1300" b="0" i="0" dirty="0">
                <a:solidFill>
                  <a:srgbClr val="2C2C2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C2C2C"/>
                </a:solidFill>
                <a:latin typeface="Calibri"/>
              </a:rPr>
              <a:t>endroit</a:t>
            </a:r>
            <a:r>
              <a:rPr sz="1300" b="0" i="0" dirty="0">
                <a:solidFill>
                  <a:srgbClr val="2C2C2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C2C2C"/>
                </a:solidFill>
                <a:latin typeface="Calibri"/>
              </a:rPr>
              <a:t>toutes</a:t>
            </a:r>
            <a:r>
              <a:rPr sz="1300" b="0" i="0" dirty="0">
                <a:solidFill>
                  <a:srgbClr val="2C2C2C"/>
                </a:solidFill>
                <a:latin typeface="Calibri"/>
              </a:rPr>
              <a:t> les </a:t>
            </a:r>
            <a:r>
              <a:rPr sz="1300" b="0" i="0" dirty="0" err="1">
                <a:solidFill>
                  <a:srgbClr val="2C2C2C"/>
                </a:solidFill>
                <a:latin typeface="Calibri"/>
              </a:rPr>
              <a:t>informations</a:t>
            </a:r>
            <a:r>
              <a:rPr sz="1300" b="0" i="0" dirty="0">
                <a:solidFill>
                  <a:srgbClr val="2C2C2C"/>
                </a:solidFill>
                <a:latin typeface="Calibri"/>
              </a:rPr>
              <a:t> </a:t>
            </a:r>
            <a:r>
              <a:rPr sz="1300" b="0" i="0" dirty="0" err="1">
                <a:solidFill>
                  <a:srgbClr val="2C2C2C"/>
                </a:solidFill>
                <a:latin typeface="Calibri"/>
              </a:rPr>
              <a:t>officielles</a:t>
            </a:r>
            <a:r>
              <a:rPr lang="en-CA" sz="1300" b="0" i="0" dirty="0">
                <a:solidFill>
                  <a:srgbClr val="2C2C2C"/>
                </a:solidFill>
                <a:latin typeface="Calibri"/>
              </a:rPr>
              <a:t>, completes et </a:t>
            </a:r>
            <a:r>
              <a:rPr lang="en-CA" sz="1300" b="0" i="0" dirty="0" err="1">
                <a:solidFill>
                  <a:srgbClr val="2C2C2C"/>
                </a:solidFill>
                <a:latin typeface="Calibri"/>
              </a:rPr>
              <a:t>à</a:t>
            </a:r>
            <a:r>
              <a:rPr lang="en-CA" sz="1300" b="0" i="0" dirty="0">
                <a:solidFill>
                  <a:srgbClr val="2C2C2C"/>
                </a:solidFill>
                <a:latin typeface="Calibri"/>
              </a:rPr>
              <a:t> jour</a:t>
            </a:r>
            <a:r>
              <a:rPr sz="1300" b="0" i="0" dirty="0">
                <a:solidFill>
                  <a:srgbClr val="2C2C2C"/>
                </a:solidFill>
                <a:latin typeface="Calibri"/>
              </a:rPr>
              <a:t> sur les étapes, les documents </a:t>
            </a:r>
            <a:r>
              <a:rPr sz="1300" b="0" i="0" dirty="0" err="1">
                <a:solidFill>
                  <a:srgbClr val="2C2C2C"/>
                </a:solidFill>
                <a:latin typeface="Calibri"/>
              </a:rPr>
              <a:t>requis</a:t>
            </a:r>
            <a:r>
              <a:rPr sz="1300" b="0" i="0" dirty="0">
                <a:solidFill>
                  <a:srgbClr val="2C2C2C"/>
                </a:solidFill>
                <a:latin typeface="Calibri"/>
              </a:rPr>
              <a:t> et les dates </a:t>
            </a:r>
            <a:r>
              <a:rPr sz="1300" b="0" i="0" dirty="0" err="1">
                <a:solidFill>
                  <a:srgbClr val="2C2C2C"/>
                </a:solidFill>
                <a:latin typeface="Calibri"/>
              </a:rPr>
              <a:t>limites</a:t>
            </a:r>
            <a:endParaRPr sz="1300" b="0" i="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5042"/>
                </a:solidFill>
                <a:latin typeface="Calibri"/>
              </a:rPr>
              <a:t>Afin de…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291840"/>
            <a:ext cx="6035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2C2C"/>
                </a:solidFill>
                <a:latin typeface="Calibri"/>
              </a:rPr>
              <a:t>soumettre un dossier complet à temps et maximiser mes chances d'être admis sans perdre une semaine de voyage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55371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Le résultat visé : être admis à la FDS  —  pas juste éviter un déplacement.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Georgia"/>
              </a:rPr>
              <a:t>USER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3 stories dérivées du JTBD de Jean Pierre — format INVEST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051560"/>
            <a:ext cx="2834640" cy="38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051560"/>
            <a:ext cx="2834640" cy="3474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8328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BEAE"/>
                </a:solidFill>
                <a:latin typeface="Georgia"/>
              </a:rPr>
              <a:t>US-JP1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508760"/>
            <a:ext cx="2606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B6B6B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6B6B6B"/>
                </a:solidFill>
                <a:latin typeface="Calibri"/>
              </a:rPr>
              <a:t> tant que </a:t>
            </a:r>
            <a:r>
              <a:rPr sz="1100" b="0" i="0" dirty="0" err="1">
                <a:solidFill>
                  <a:srgbClr val="6B6B6B"/>
                </a:solidFill>
                <a:latin typeface="Calibri"/>
              </a:rPr>
              <a:t>bachelier</a:t>
            </a:r>
            <a:r>
              <a:rPr sz="11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lang="en-CA" sz="1100" dirty="0">
                <a:solidFill>
                  <a:srgbClr val="6B6B6B"/>
                </a:solidFill>
                <a:latin typeface="Calibri"/>
              </a:rPr>
              <a:t>vivant </a:t>
            </a:r>
            <a:r>
              <a:rPr lang="en-CA" sz="1100" dirty="0" err="1">
                <a:solidFill>
                  <a:srgbClr val="6B6B6B"/>
                </a:solidFill>
                <a:latin typeface="Calibri"/>
              </a:rPr>
              <a:t>en</a:t>
            </a:r>
            <a:r>
              <a:rPr lang="en-CA" sz="1100" dirty="0">
                <a:solidFill>
                  <a:srgbClr val="6B6B6B"/>
                </a:solidFill>
                <a:latin typeface="Calibri"/>
              </a:rPr>
              <a:t> province avec un </a:t>
            </a:r>
            <a:r>
              <a:rPr lang="en-CA" sz="1100" dirty="0" err="1">
                <a:solidFill>
                  <a:srgbClr val="6B6B6B"/>
                </a:solidFill>
                <a:latin typeface="Calibri"/>
              </a:rPr>
              <a:t>accès</a:t>
            </a:r>
            <a:r>
              <a:rPr lang="en-CA" sz="1100" dirty="0">
                <a:solidFill>
                  <a:srgbClr val="6B6B6B"/>
                </a:solidFill>
                <a:latin typeface="Calibri"/>
              </a:rPr>
              <a:t> internet </a:t>
            </a:r>
            <a:r>
              <a:rPr lang="en-CA" sz="1100" dirty="0" err="1">
                <a:solidFill>
                  <a:srgbClr val="6B6B6B"/>
                </a:solidFill>
                <a:latin typeface="Calibri"/>
              </a:rPr>
              <a:t>limité</a:t>
            </a:r>
            <a:endParaRPr sz="1100" b="0" i="0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328" y="2011680"/>
            <a:ext cx="26060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C2C2C"/>
                </a:solidFill>
                <a:latin typeface="Calibri"/>
              </a:rPr>
              <a:t>je </a:t>
            </a:r>
            <a:r>
              <a:rPr sz="1100" b="1" i="0" dirty="0" err="1">
                <a:solidFill>
                  <a:srgbClr val="2C2C2C"/>
                </a:solidFill>
                <a:latin typeface="Calibri"/>
              </a:rPr>
              <a:t>veux</a:t>
            </a:r>
            <a:r>
              <a:rPr sz="1100" b="1" i="0" dirty="0">
                <a:solidFill>
                  <a:srgbClr val="2C2C2C"/>
                </a:solidFill>
                <a:latin typeface="Calibri"/>
              </a:rPr>
              <a:t> consulter la </a:t>
            </a:r>
            <a:r>
              <a:rPr lang="en-CA" sz="1100" b="1" dirty="0" err="1">
                <a:solidFill>
                  <a:srgbClr val="2C2C2C"/>
                </a:solidFill>
                <a:latin typeface="Calibri"/>
              </a:rPr>
              <a:t>liste</a:t>
            </a:r>
            <a:r>
              <a:rPr lang="en-CA" sz="1100" b="1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100" b="1" dirty="0" err="1">
                <a:solidFill>
                  <a:srgbClr val="2C2C2C"/>
                </a:solidFill>
                <a:latin typeface="Calibri"/>
              </a:rPr>
              <a:t>officielle</a:t>
            </a:r>
            <a:r>
              <a:rPr lang="en-CA" sz="1100" b="1" dirty="0">
                <a:solidFill>
                  <a:srgbClr val="2C2C2C"/>
                </a:solidFill>
                <a:latin typeface="Calibri"/>
              </a:rPr>
              <a:t>, </a:t>
            </a:r>
            <a:r>
              <a:rPr lang="en-CA" sz="1100" b="1" dirty="0" err="1">
                <a:solidFill>
                  <a:srgbClr val="2C2C2C"/>
                </a:solidFill>
                <a:latin typeface="Calibri"/>
              </a:rPr>
              <a:t>clasire</a:t>
            </a:r>
            <a:r>
              <a:rPr lang="en-CA" sz="1100" b="1" dirty="0">
                <a:solidFill>
                  <a:srgbClr val="2C2C2C"/>
                </a:solidFill>
                <a:latin typeface="Calibri"/>
              </a:rPr>
              <a:t> et </a:t>
            </a:r>
            <a:r>
              <a:rPr lang="en-CA" sz="1100" b="1" dirty="0" err="1">
                <a:solidFill>
                  <a:srgbClr val="2C2C2C"/>
                </a:solidFill>
                <a:latin typeface="Calibri"/>
              </a:rPr>
              <a:t>à</a:t>
            </a:r>
            <a:r>
              <a:rPr lang="en-CA" sz="1100" b="1" dirty="0">
                <a:solidFill>
                  <a:srgbClr val="2C2C2C"/>
                </a:solidFill>
                <a:latin typeface="Calibri"/>
              </a:rPr>
              <a:t> jour des documents </a:t>
            </a:r>
            <a:r>
              <a:rPr lang="en-CA" sz="1100" b="1" dirty="0" err="1">
                <a:solidFill>
                  <a:srgbClr val="2C2C2C"/>
                </a:solidFill>
                <a:latin typeface="Calibri"/>
              </a:rPr>
              <a:t>requis</a:t>
            </a:r>
            <a:r>
              <a:rPr lang="en-CA" sz="1100" b="1" dirty="0">
                <a:solidFill>
                  <a:srgbClr val="2C2C2C"/>
                </a:solidFill>
                <a:latin typeface="Calibri"/>
              </a:rPr>
              <a:t> pour </a:t>
            </a:r>
            <a:r>
              <a:rPr lang="en-CA" sz="1100" b="1" dirty="0" err="1">
                <a:solidFill>
                  <a:srgbClr val="2C2C2C"/>
                </a:solidFill>
                <a:latin typeface="Calibri"/>
              </a:rPr>
              <a:t>l’inscription</a:t>
            </a:r>
            <a:r>
              <a:rPr lang="en-CA" sz="1100" b="1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100" b="1" dirty="0" err="1">
                <a:solidFill>
                  <a:srgbClr val="2C2C2C"/>
                </a:solidFill>
                <a:latin typeface="Calibri"/>
              </a:rPr>
              <a:t>à</a:t>
            </a:r>
            <a:r>
              <a:rPr lang="en-CA" sz="1100" b="1" dirty="0">
                <a:solidFill>
                  <a:srgbClr val="2C2C2C"/>
                </a:solidFill>
                <a:latin typeface="Calibri"/>
              </a:rPr>
              <a:t> la FDS,</a:t>
            </a:r>
            <a:endParaRPr sz="1100" b="1" i="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8328" y="292608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 err="1">
                <a:solidFill>
                  <a:srgbClr val="B85042"/>
                </a:solidFill>
                <a:latin typeface="Calibri"/>
              </a:rPr>
              <a:t>afin</a:t>
            </a:r>
            <a:r>
              <a:rPr sz="1100" b="0" i="1" dirty="0">
                <a:solidFill>
                  <a:srgbClr val="B85042"/>
                </a:solidFill>
                <a:latin typeface="Calibri"/>
              </a:rPr>
              <a:t> de </a:t>
            </a:r>
            <a:r>
              <a:rPr sz="1100" b="0" i="1" dirty="0" err="1">
                <a:solidFill>
                  <a:srgbClr val="B85042"/>
                </a:solidFill>
                <a:latin typeface="Calibri"/>
              </a:rPr>
              <a:t>préparer</a:t>
            </a:r>
            <a:r>
              <a:rPr sz="1100" b="0" i="1" dirty="0">
                <a:solidFill>
                  <a:srgbClr val="B85042"/>
                </a:solidFill>
                <a:latin typeface="Calibri"/>
              </a:rPr>
              <a:t> un dossier </a:t>
            </a:r>
            <a:r>
              <a:rPr sz="1100" b="0" i="1" dirty="0" err="1">
                <a:solidFill>
                  <a:srgbClr val="B85042"/>
                </a:solidFill>
                <a:latin typeface="Calibri"/>
              </a:rPr>
              <a:t>complet</a:t>
            </a:r>
            <a:r>
              <a:rPr sz="1100" b="0" i="1" dirty="0">
                <a:solidFill>
                  <a:srgbClr val="B85042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B85042"/>
                </a:solidFill>
                <a:latin typeface="Calibri"/>
              </a:rPr>
              <a:t>avant</a:t>
            </a:r>
            <a:r>
              <a:rPr sz="1100" b="0" i="1" dirty="0">
                <a:solidFill>
                  <a:srgbClr val="B85042"/>
                </a:solidFill>
                <a:latin typeface="Calibri"/>
              </a:rPr>
              <a:t> tout </a:t>
            </a:r>
            <a:r>
              <a:rPr sz="1100" b="0" i="1" dirty="0" err="1">
                <a:solidFill>
                  <a:srgbClr val="B85042"/>
                </a:solidFill>
                <a:latin typeface="Calibri"/>
              </a:rPr>
              <a:t>déplacement</a:t>
            </a:r>
            <a:r>
              <a:rPr sz="1100" b="0" i="1" dirty="0">
                <a:solidFill>
                  <a:srgbClr val="B85042"/>
                </a:solidFill>
                <a:latin typeface="Calibri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051560"/>
            <a:ext cx="2834640" cy="38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1051560"/>
            <a:ext cx="2834640" cy="3474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5848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BEAE"/>
                </a:solidFill>
                <a:latin typeface="Georgia"/>
              </a:rPr>
              <a:t>US-JP2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1508760"/>
            <a:ext cx="2606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B6B6B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6B6B6B"/>
                </a:solidFill>
                <a:latin typeface="Calibri"/>
              </a:rPr>
              <a:t> tant que </a:t>
            </a:r>
            <a:r>
              <a:rPr sz="1100" b="0" i="0" dirty="0" err="1">
                <a:solidFill>
                  <a:srgbClr val="6B6B6B"/>
                </a:solidFill>
                <a:latin typeface="Calibri"/>
              </a:rPr>
              <a:t>bachelier</a:t>
            </a:r>
            <a:r>
              <a:rPr lang="en-CA" sz="1100" b="0" i="0" dirty="0">
                <a:solidFill>
                  <a:srgbClr val="6B6B6B"/>
                </a:solidFill>
                <a:latin typeface="Calibri"/>
              </a:rPr>
              <a:t> vivant</a:t>
            </a:r>
            <a:r>
              <a:rPr sz="11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B6B6B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6B6B6B"/>
                </a:solidFill>
                <a:latin typeface="Calibri"/>
              </a:rPr>
              <a:t> province,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2011680"/>
            <a:ext cx="26060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C2C2C"/>
                </a:solidFill>
                <a:latin typeface="Calibri"/>
              </a:rPr>
              <a:t>je </a:t>
            </a:r>
            <a:r>
              <a:rPr sz="1100" b="1" i="0" dirty="0" err="1">
                <a:solidFill>
                  <a:srgbClr val="2C2C2C"/>
                </a:solidFill>
                <a:latin typeface="Calibri"/>
              </a:rPr>
              <a:t>veux</a:t>
            </a:r>
            <a:r>
              <a:rPr sz="1100" b="1" i="0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100" b="1" dirty="0">
                <a:solidFill>
                  <a:srgbClr val="2C2C2C"/>
                </a:solidFill>
                <a:latin typeface="Calibri"/>
              </a:rPr>
              <a:t>consulter un </a:t>
            </a:r>
            <a:r>
              <a:rPr sz="1100" b="1" i="0" dirty="0">
                <a:solidFill>
                  <a:srgbClr val="2C2C2C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2C2C2C"/>
                </a:solidFill>
                <a:latin typeface="Calibri"/>
              </a:rPr>
              <a:t>calendrier</a:t>
            </a:r>
            <a:r>
              <a:rPr lang="en-CA" sz="1100" b="1" i="0" dirty="0" err="1">
                <a:solidFill>
                  <a:srgbClr val="2C2C2C"/>
                </a:solidFill>
                <a:latin typeface="Calibri"/>
              </a:rPr>
              <a:t>officiel</a:t>
            </a:r>
            <a:r>
              <a:rPr lang="en-CA" sz="1100" b="1" i="0" dirty="0">
                <a:solidFill>
                  <a:srgbClr val="2C2C2C"/>
                </a:solidFill>
                <a:latin typeface="Calibri"/>
              </a:rPr>
              <a:t> des dates</a:t>
            </a:r>
            <a:r>
              <a:rPr sz="1100" b="1" i="0" dirty="0">
                <a:solidFill>
                  <a:srgbClr val="2C2C2C"/>
                </a:solidFill>
                <a:latin typeface="Calibri"/>
              </a:rPr>
              <a:t> </a:t>
            </a:r>
            <a:r>
              <a:rPr sz="1100" b="1" i="0" dirty="0" err="1">
                <a:solidFill>
                  <a:srgbClr val="2C2C2C"/>
                </a:solidFill>
                <a:latin typeface="Calibri"/>
              </a:rPr>
              <a:t>d'inscription</a:t>
            </a:r>
            <a:r>
              <a:rPr sz="1100" b="1" i="0" dirty="0">
                <a:solidFill>
                  <a:srgbClr val="2C2C2C"/>
                </a:solidFill>
                <a:latin typeface="Calibri"/>
              </a:rPr>
              <a:t> (</a:t>
            </a:r>
            <a:r>
              <a:rPr sz="1100" b="1" i="0" dirty="0" err="1">
                <a:solidFill>
                  <a:srgbClr val="2C2C2C"/>
                </a:solidFill>
                <a:latin typeface="Calibri"/>
              </a:rPr>
              <a:t>ouverture</a:t>
            </a:r>
            <a:r>
              <a:rPr sz="1100" b="1" i="0" dirty="0">
                <a:solidFill>
                  <a:srgbClr val="2C2C2C"/>
                </a:solidFill>
                <a:latin typeface="Calibri"/>
              </a:rPr>
              <a:t>, </a:t>
            </a:r>
            <a:r>
              <a:rPr sz="1100" b="1" i="0" dirty="0" err="1">
                <a:solidFill>
                  <a:srgbClr val="2C2C2C"/>
                </a:solidFill>
                <a:latin typeface="Calibri"/>
              </a:rPr>
              <a:t>clôture</a:t>
            </a:r>
            <a:r>
              <a:rPr sz="1100" b="1" i="0" dirty="0">
                <a:solidFill>
                  <a:srgbClr val="2C2C2C"/>
                </a:solidFill>
                <a:latin typeface="Calibri"/>
              </a:rPr>
              <a:t>, </a:t>
            </a:r>
            <a:r>
              <a:rPr sz="1100" b="1" i="0" dirty="0" err="1">
                <a:solidFill>
                  <a:srgbClr val="2C2C2C"/>
                </a:solidFill>
                <a:latin typeface="Calibri"/>
              </a:rPr>
              <a:t>résultats</a:t>
            </a:r>
            <a:r>
              <a:rPr sz="1100" b="1" i="0" dirty="0">
                <a:solidFill>
                  <a:srgbClr val="2C2C2C"/>
                </a:solidFill>
                <a:latin typeface="Calibri"/>
              </a:rPr>
              <a:t>),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5848" y="2926080"/>
            <a:ext cx="2606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 err="1">
                <a:solidFill>
                  <a:srgbClr val="B85042"/>
                </a:solidFill>
                <a:latin typeface="Calibri"/>
              </a:rPr>
              <a:t>afin</a:t>
            </a:r>
            <a:r>
              <a:rPr sz="1100" b="0" i="1" dirty="0">
                <a:solidFill>
                  <a:srgbClr val="B85042"/>
                </a:solidFill>
                <a:latin typeface="Calibri"/>
              </a:rPr>
              <a:t> de </a:t>
            </a:r>
            <a:r>
              <a:rPr lang="en-CA" sz="1100" b="0" i="1" dirty="0" err="1">
                <a:solidFill>
                  <a:srgbClr val="B85042"/>
                </a:solidFill>
                <a:latin typeface="Calibri"/>
              </a:rPr>
              <a:t>planifier</a:t>
            </a:r>
            <a:r>
              <a:rPr lang="en-CA" sz="1100" b="0" i="1" dirty="0">
                <a:solidFill>
                  <a:srgbClr val="B85042"/>
                </a:solidFill>
                <a:latin typeface="Calibri"/>
              </a:rPr>
              <a:t> </a:t>
            </a:r>
            <a:r>
              <a:rPr lang="en-CA" sz="1100" b="0" i="1" dirty="0" err="1">
                <a:solidFill>
                  <a:srgbClr val="B85042"/>
                </a:solidFill>
                <a:latin typeface="Calibri"/>
              </a:rPr>
              <a:t>mes</a:t>
            </a:r>
            <a:r>
              <a:rPr lang="en-CA" sz="1100" b="0" i="1" dirty="0">
                <a:solidFill>
                  <a:srgbClr val="B85042"/>
                </a:solidFill>
                <a:latin typeface="Calibri"/>
              </a:rPr>
              <a:t> demarches et </a:t>
            </a:r>
            <a:r>
              <a:rPr sz="1100" b="0" i="1" dirty="0">
                <a:solidFill>
                  <a:srgbClr val="B85042"/>
                </a:solidFill>
                <a:latin typeface="Calibri"/>
              </a:rPr>
              <a:t>ne rater </a:t>
            </a:r>
            <a:r>
              <a:rPr sz="1100" b="0" i="1" dirty="0" err="1">
                <a:solidFill>
                  <a:srgbClr val="B85042"/>
                </a:solidFill>
                <a:latin typeface="Calibri"/>
              </a:rPr>
              <a:t>aucune</a:t>
            </a:r>
            <a:r>
              <a:rPr sz="1100" b="0" i="1" dirty="0">
                <a:solidFill>
                  <a:srgbClr val="B85042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B85042"/>
                </a:solidFill>
                <a:latin typeface="Calibri"/>
              </a:rPr>
              <a:t>échéance</a:t>
            </a:r>
            <a:r>
              <a:rPr sz="1100" b="0" i="1" dirty="0">
                <a:solidFill>
                  <a:srgbClr val="B85042"/>
                </a:solidFill>
                <a:latin typeface="Calibri"/>
              </a:rPr>
              <a:t> </a:t>
            </a:r>
            <a:r>
              <a:rPr lang="en-CA" sz="1100" i="1" dirty="0" err="1">
                <a:solidFill>
                  <a:srgbClr val="B85042"/>
                </a:solidFill>
                <a:latin typeface="Calibri"/>
              </a:rPr>
              <a:t>importantes</a:t>
            </a:r>
            <a:r>
              <a:rPr lang="en-CA" sz="1100" i="1" dirty="0">
                <a:solidFill>
                  <a:srgbClr val="B85042"/>
                </a:solidFill>
                <a:latin typeface="Calibri"/>
              </a:rPr>
              <a:t>.</a:t>
            </a:r>
            <a:endParaRPr sz="1100" b="0" i="1" dirty="0">
              <a:solidFill>
                <a:srgbClr val="B85042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63640" y="1051560"/>
            <a:ext cx="2834640" cy="388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1051560"/>
            <a:ext cx="2834640" cy="34747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73368" y="10789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BEAE"/>
                </a:solidFill>
                <a:latin typeface="Georgia"/>
              </a:rPr>
              <a:t>US-JP3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1508760"/>
            <a:ext cx="26060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6B6B6B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6B6B6B"/>
                </a:solidFill>
                <a:latin typeface="Calibri"/>
              </a:rPr>
              <a:t> tant que </a:t>
            </a:r>
            <a:r>
              <a:rPr sz="1100" b="0" i="0" dirty="0" err="1">
                <a:solidFill>
                  <a:srgbClr val="6B6B6B"/>
                </a:solidFill>
                <a:latin typeface="Calibri"/>
              </a:rPr>
              <a:t>bachelier</a:t>
            </a:r>
            <a:r>
              <a:rPr lang="en-CA" sz="1100" b="0" i="0" dirty="0">
                <a:solidFill>
                  <a:srgbClr val="6B6B6B"/>
                </a:solidFill>
                <a:latin typeface="Calibri"/>
              </a:rPr>
              <a:t> vivant</a:t>
            </a:r>
            <a:r>
              <a:rPr sz="1100" b="0" i="0" dirty="0">
                <a:solidFill>
                  <a:srgbClr val="6B6B6B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6B6B6B"/>
                </a:solidFill>
                <a:latin typeface="Calibri"/>
              </a:rPr>
              <a:t>en</a:t>
            </a:r>
            <a:r>
              <a:rPr sz="1100" b="0" i="0" dirty="0">
                <a:solidFill>
                  <a:srgbClr val="6B6B6B"/>
                </a:solidFill>
                <a:latin typeface="Calibri"/>
              </a:rPr>
              <a:t> province,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011680"/>
            <a:ext cx="2606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C2C2C"/>
                </a:solidFill>
                <a:latin typeface="Calibri"/>
              </a:rPr>
              <a:t>je </a:t>
            </a:r>
            <a:r>
              <a:rPr sz="1100" b="1" i="0" dirty="0" err="1">
                <a:solidFill>
                  <a:srgbClr val="2C2C2C"/>
                </a:solidFill>
                <a:latin typeface="Calibri"/>
              </a:rPr>
              <a:t>veux</a:t>
            </a:r>
            <a:r>
              <a:rPr sz="1100" b="1" i="0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100" b="1" dirty="0" err="1">
                <a:solidFill>
                  <a:srgbClr val="2C2C2C"/>
                </a:solidFill>
                <a:latin typeface="Calibri"/>
              </a:rPr>
              <a:t>recevoir</a:t>
            </a:r>
            <a:r>
              <a:rPr lang="en-CA" sz="1100" b="1" dirty="0">
                <a:solidFill>
                  <a:srgbClr val="2C2C2C"/>
                </a:solidFill>
                <a:latin typeface="Calibri"/>
              </a:rPr>
              <a:t> des notifications </a:t>
            </a:r>
            <a:r>
              <a:rPr lang="en-CA" sz="1100" b="1" dirty="0" err="1">
                <a:solidFill>
                  <a:srgbClr val="2C2C2C"/>
                </a:solidFill>
                <a:latin typeface="Calibri"/>
              </a:rPr>
              <a:t>lorsque</a:t>
            </a:r>
            <a:r>
              <a:rPr lang="en-CA" sz="1100" b="1" dirty="0">
                <a:solidFill>
                  <a:srgbClr val="2C2C2C"/>
                </a:solidFill>
                <a:latin typeface="Calibri"/>
              </a:rPr>
              <a:t> les dates </a:t>
            </a:r>
            <a:r>
              <a:rPr lang="en-CA" sz="1100" b="1" dirty="0" err="1">
                <a:solidFill>
                  <a:srgbClr val="2C2C2C"/>
                </a:solidFill>
                <a:latin typeface="Calibri"/>
              </a:rPr>
              <a:t>importantes</a:t>
            </a:r>
            <a:r>
              <a:rPr lang="en-CA" sz="1100" b="1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100" b="1" dirty="0" err="1">
                <a:solidFill>
                  <a:srgbClr val="2C2C2C"/>
                </a:solidFill>
                <a:latin typeface="Calibri"/>
              </a:rPr>
              <a:t>approchent</a:t>
            </a:r>
            <a:endParaRPr sz="1100" b="1" i="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73368" y="2926080"/>
            <a:ext cx="2606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 err="1">
                <a:solidFill>
                  <a:srgbClr val="B85042"/>
                </a:solidFill>
                <a:latin typeface="Calibri"/>
              </a:rPr>
              <a:t>afin</a:t>
            </a:r>
            <a:r>
              <a:rPr sz="1100" b="0" i="1" dirty="0">
                <a:solidFill>
                  <a:srgbClr val="B85042"/>
                </a:solidFill>
                <a:latin typeface="Calibri"/>
              </a:rPr>
              <a:t> </a:t>
            </a:r>
            <a:r>
              <a:rPr lang="en-CA" sz="1100" i="1" dirty="0">
                <a:solidFill>
                  <a:srgbClr val="B85042"/>
                </a:solidFill>
                <a:latin typeface="Calibri"/>
              </a:rPr>
              <a:t>de ne pas </a:t>
            </a:r>
            <a:r>
              <a:rPr lang="en-CA" sz="1100" i="1" dirty="0" err="1">
                <a:solidFill>
                  <a:srgbClr val="B85042"/>
                </a:solidFill>
                <a:latin typeface="Calibri"/>
              </a:rPr>
              <a:t>dependre</a:t>
            </a:r>
            <a:r>
              <a:rPr lang="en-CA" sz="1100" i="1" dirty="0">
                <a:solidFill>
                  <a:srgbClr val="B85042"/>
                </a:solidFill>
                <a:latin typeface="Calibri"/>
              </a:rPr>
              <a:t> </a:t>
            </a:r>
            <a:r>
              <a:rPr lang="en-CA" sz="1100" i="1" dirty="0" err="1">
                <a:solidFill>
                  <a:srgbClr val="B85042"/>
                </a:solidFill>
                <a:latin typeface="Calibri"/>
              </a:rPr>
              <a:t>d’une</a:t>
            </a:r>
            <a:r>
              <a:rPr lang="en-CA" sz="1100" i="1" dirty="0">
                <a:solidFill>
                  <a:srgbClr val="B85042"/>
                </a:solidFill>
                <a:latin typeface="Calibri"/>
              </a:rPr>
              <a:t> consultation </a:t>
            </a:r>
            <a:r>
              <a:rPr lang="en-CA" sz="1100" i="1" dirty="0" err="1">
                <a:solidFill>
                  <a:srgbClr val="B85042"/>
                </a:solidFill>
                <a:latin typeface="Calibri"/>
              </a:rPr>
              <a:t>réguliére</a:t>
            </a:r>
            <a:r>
              <a:rPr lang="en-CA" sz="1100" i="1" dirty="0">
                <a:solidFill>
                  <a:srgbClr val="B85042"/>
                </a:solidFill>
                <a:latin typeface="Calibri"/>
              </a:rPr>
              <a:t> du </a:t>
            </a:r>
            <a:r>
              <a:rPr lang="en-CA" sz="1100" i="1" dirty="0" err="1">
                <a:solidFill>
                  <a:srgbClr val="B85042"/>
                </a:solidFill>
                <a:latin typeface="Calibri"/>
              </a:rPr>
              <a:t>portail</a:t>
            </a:r>
            <a:r>
              <a:rPr lang="en-CA" sz="1100" i="1" dirty="0">
                <a:solidFill>
                  <a:srgbClr val="B85042"/>
                </a:solidFill>
                <a:latin typeface="Calibri"/>
              </a:rPr>
              <a:t>.</a:t>
            </a:r>
            <a:endParaRPr sz="1100" b="0" i="1" dirty="0">
              <a:solidFill>
                <a:srgbClr val="B8504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CRITÈRES D'ACCEPTATION — US-JP1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0350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BEAE"/>
                </a:solidFill>
                <a:latin typeface="Calibri"/>
              </a:rPr>
              <a:t>Format Gherkin · Given / When / Then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4160520" cy="3749039"/>
          </a:xfrm>
          <a:prstGeom prst="rect">
            <a:avLst/>
          </a:prstGeom>
          <a:solidFill>
            <a:srgbClr val="E7E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4160520" cy="34747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11556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Scénario 1 — Documents accessibles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00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Étant donné 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00200"/>
            <a:ext cx="26517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C2C2C"/>
                </a:solidFill>
                <a:latin typeface="Calibri"/>
              </a:rPr>
              <a:t>Jean Pierre </a:t>
            </a:r>
            <a:r>
              <a:rPr lang="en-CA" sz="1100" dirty="0">
                <a:solidFill>
                  <a:srgbClr val="2C2C2C"/>
                </a:solidFill>
                <a:latin typeface="Calibri"/>
              </a:rPr>
              <a:t>accede au </a:t>
            </a:r>
            <a:r>
              <a:rPr lang="en-CA" sz="1100" dirty="0" err="1">
                <a:solidFill>
                  <a:srgbClr val="2C2C2C"/>
                </a:solidFill>
                <a:latin typeface="Calibri"/>
              </a:rPr>
              <a:t>portail</a:t>
            </a:r>
            <a:r>
              <a:rPr lang="en-CA" sz="1100" dirty="0">
                <a:solidFill>
                  <a:srgbClr val="2C2C2C"/>
                </a:solidFill>
                <a:latin typeface="Calibri"/>
              </a:rPr>
              <a:t> FDS via son  telephone</a:t>
            </a:r>
          </a:p>
          <a:p>
            <a:pPr algn="l"/>
            <a:r>
              <a:rPr lang="en-CA" sz="1100" b="0" i="0" dirty="0">
                <a:solidFill>
                  <a:srgbClr val="2C2C2C"/>
                </a:solidFill>
                <a:latin typeface="Calibri"/>
              </a:rPr>
              <a:t>Et </a:t>
            </a:r>
            <a:r>
              <a:rPr lang="en-CA" sz="1100" b="0" i="0" dirty="0" err="1">
                <a:solidFill>
                  <a:srgbClr val="2C2C2C"/>
                </a:solidFill>
                <a:latin typeface="Calibri"/>
              </a:rPr>
              <a:t>qu’il</a:t>
            </a:r>
            <a:r>
              <a:rPr lang="en-CA" sz="1100" b="0" i="0" dirty="0">
                <a:solidFill>
                  <a:srgbClr val="2C2C2C"/>
                </a:solidFill>
                <a:latin typeface="Calibri"/>
              </a:rPr>
              <a:t> se </a:t>
            </a:r>
            <a:r>
              <a:rPr lang="en-CA" sz="1100" b="0" i="0" dirty="0" err="1">
                <a:solidFill>
                  <a:srgbClr val="2C2C2C"/>
                </a:solidFill>
                <a:latin typeface="Calibri"/>
              </a:rPr>
              <a:t>trouve</a:t>
            </a:r>
            <a:r>
              <a:rPr lang="en-CA" sz="1100" b="0" i="0" dirty="0">
                <a:solidFill>
                  <a:srgbClr val="2C2C2C"/>
                </a:solidFill>
                <a:latin typeface="Calibri"/>
              </a:rPr>
              <a:t> sur la page </a:t>
            </a:r>
            <a:r>
              <a:rPr lang="en-CA" sz="1100" b="0" i="0" dirty="0" err="1">
                <a:solidFill>
                  <a:srgbClr val="2C2C2C"/>
                </a:solidFill>
                <a:latin typeface="Calibri"/>
              </a:rPr>
              <a:t>d’accueil</a:t>
            </a:r>
            <a:endParaRPr sz="1100" b="0" i="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79" y="2423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23160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C2C2C"/>
                </a:solidFill>
                <a:latin typeface="Calibri"/>
              </a:rPr>
              <a:t>il clique sur l</a:t>
            </a:r>
            <a:r>
              <a:rPr lang="en-CA" sz="1100" dirty="0">
                <a:solidFill>
                  <a:srgbClr val="2C2C2C"/>
                </a:solidFill>
                <a:latin typeface="Calibri"/>
              </a:rPr>
              <a:t>a section “Inscription” </a:t>
            </a:r>
            <a:endParaRPr sz="1100" b="0" i="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1479" y="32004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Alors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00400"/>
            <a:ext cx="26517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C2C2C"/>
                </a:solidFill>
                <a:latin typeface="Calibri"/>
              </a:rPr>
              <a:t>il </a:t>
            </a:r>
            <a:r>
              <a:rPr lang="en-CA" sz="1100" b="0" i="0" dirty="0">
                <a:solidFill>
                  <a:srgbClr val="2C2C2C"/>
                </a:solidFill>
                <a:latin typeface="Calibri"/>
              </a:rPr>
              <a:t>accede </a:t>
            </a:r>
            <a:r>
              <a:rPr lang="en-CA" sz="1100" b="0" i="0" dirty="0" err="1">
                <a:solidFill>
                  <a:srgbClr val="2C2C2C"/>
                </a:solidFill>
                <a:latin typeface="Calibri"/>
              </a:rPr>
              <a:t>à</a:t>
            </a:r>
            <a:r>
              <a:rPr lang="en-CA" sz="1100" b="0" i="0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100" b="0" i="0" dirty="0" err="1">
                <a:solidFill>
                  <a:srgbClr val="2C2C2C"/>
                </a:solidFill>
                <a:latin typeface="Calibri"/>
              </a:rPr>
              <a:t>une</a:t>
            </a:r>
            <a:r>
              <a:rPr lang="en-CA" sz="1100" b="0" i="0" dirty="0">
                <a:solidFill>
                  <a:srgbClr val="2C2C2C"/>
                </a:solidFill>
                <a:latin typeface="Calibri"/>
              </a:rPr>
              <a:t> page </a:t>
            </a:r>
            <a:r>
              <a:rPr lang="en-CA" sz="1100" b="0" i="0" dirty="0" err="1">
                <a:solidFill>
                  <a:srgbClr val="2C2C2C"/>
                </a:solidFill>
                <a:latin typeface="Calibri"/>
              </a:rPr>
              <a:t>affichant</a:t>
            </a:r>
            <a:r>
              <a:rPr lang="en-CA" sz="1100" b="0" i="0" dirty="0">
                <a:solidFill>
                  <a:srgbClr val="2C2C2C"/>
                </a:solidFill>
                <a:latin typeface="Calibri"/>
              </a:rPr>
              <a:t> la </a:t>
            </a:r>
            <a:r>
              <a:rPr lang="en-CA" sz="1100" b="0" i="0" dirty="0" err="1">
                <a:solidFill>
                  <a:srgbClr val="2C2C2C"/>
                </a:solidFill>
                <a:latin typeface="Calibri"/>
              </a:rPr>
              <a:t>liste</a:t>
            </a:r>
            <a:r>
              <a:rPr lang="en-CA" sz="1100" b="0" i="0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100" b="0" i="0" dirty="0" err="1">
                <a:solidFill>
                  <a:srgbClr val="2C2C2C"/>
                </a:solidFill>
                <a:latin typeface="Calibri"/>
              </a:rPr>
              <a:t>officielle</a:t>
            </a:r>
            <a:r>
              <a:rPr lang="en-CA" sz="1100" b="0" i="0" dirty="0">
                <a:solidFill>
                  <a:srgbClr val="2C2C2C"/>
                </a:solidFill>
                <a:latin typeface="Calibri"/>
              </a:rPr>
              <a:t> des documents </a:t>
            </a:r>
            <a:r>
              <a:rPr lang="en-CA" sz="1100" b="0" i="0" dirty="0" err="1">
                <a:solidFill>
                  <a:srgbClr val="2C2C2C"/>
                </a:solidFill>
                <a:latin typeface="Calibri"/>
              </a:rPr>
              <a:t>requis</a:t>
            </a:r>
            <a:r>
              <a:rPr lang="en-CA" sz="1100" b="0" i="0" dirty="0">
                <a:solidFill>
                  <a:srgbClr val="2C2C2C"/>
                </a:solidFill>
                <a:latin typeface="Calibri"/>
              </a:rPr>
              <a:t> et </a:t>
            </a:r>
            <a:r>
              <a:rPr lang="en-CA" sz="1100" b="0" i="0" dirty="0" err="1">
                <a:solidFill>
                  <a:srgbClr val="2C2C2C"/>
                </a:solidFill>
                <a:latin typeface="Calibri"/>
              </a:rPr>
              <a:t>chaque</a:t>
            </a:r>
            <a:r>
              <a:rPr lang="en-CA" sz="1100" b="0" i="0" dirty="0">
                <a:solidFill>
                  <a:srgbClr val="2C2C2C"/>
                </a:solidFill>
                <a:latin typeface="Calibri"/>
              </a:rPr>
              <a:t> document </a:t>
            </a:r>
            <a:r>
              <a:rPr lang="en-CA" sz="1100" b="0" i="0" dirty="0" err="1">
                <a:solidFill>
                  <a:srgbClr val="2C2C2C"/>
                </a:solidFill>
                <a:latin typeface="Calibri"/>
              </a:rPr>
              <a:t>indique</a:t>
            </a:r>
            <a:r>
              <a:rPr lang="en-CA" sz="1100" b="0" i="0" dirty="0">
                <a:solidFill>
                  <a:srgbClr val="2C2C2C"/>
                </a:solidFill>
                <a:latin typeface="Calibri"/>
              </a:rPr>
              <a:t> son format </a:t>
            </a:r>
            <a:r>
              <a:rPr lang="en-CA" sz="1100" b="0" i="0" dirty="0" err="1">
                <a:solidFill>
                  <a:srgbClr val="2C2C2C"/>
                </a:solidFill>
                <a:latin typeface="Calibri"/>
              </a:rPr>
              <a:t>accepté</a:t>
            </a:r>
            <a:endParaRPr sz="1100" b="0" i="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54880" y="1097280"/>
            <a:ext cx="4160520" cy="3749039"/>
          </a:xfrm>
          <a:prstGeom prst="rect">
            <a:avLst/>
          </a:prstGeom>
          <a:solidFill>
            <a:srgbClr val="E7E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54880" y="1097280"/>
            <a:ext cx="4160520" cy="347472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64608" y="111556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Scénario 2 — Contenu à jour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16002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Étant donné 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1600200"/>
            <a:ext cx="26517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C2C2C"/>
                </a:solidFill>
                <a:latin typeface="Calibri"/>
              </a:rPr>
              <a:t>Jean Pierre c</a:t>
            </a:r>
            <a:r>
              <a:rPr lang="en-CA" sz="1100" b="0" i="0" dirty="0" err="1">
                <a:solidFill>
                  <a:srgbClr val="2C2C2C"/>
                </a:solidFill>
                <a:latin typeface="Calibri"/>
              </a:rPr>
              <a:t>onsulte</a:t>
            </a:r>
            <a:r>
              <a:rPr lang="en-CA" sz="1100" b="0" i="0" dirty="0">
                <a:solidFill>
                  <a:srgbClr val="2C2C2C"/>
                </a:solidFill>
                <a:latin typeface="Calibri"/>
              </a:rPr>
              <a:t> la page des docu</a:t>
            </a:r>
            <a:r>
              <a:rPr lang="en-CA" sz="1100" dirty="0">
                <a:solidFill>
                  <a:srgbClr val="2C2C2C"/>
                </a:solidFill>
                <a:latin typeface="Calibri"/>
              </a:rPr>
              <a:t>ments </a:t>
            </a:r>
            <a:r>
              <a:rPr lang="en-CA" sz="1100" dirty="0" err="1">
                <a:solidFill>
                  <a:srgbClr val="2C2C2C"/>
                </a:solidFill>
                <a:latin typeface="Calibri"/>
              </a:rPr>
              <a:t>requis</a:t>
            </a:r>
            <a:r>
              <a:rPr lang="en-CA" sz="1100" dirty="0">
                <a:solidFill>
                  <a:srgbClr val="2C2C2C"/>
                </a:solidFill>
                <a:latin typeface="Calibri"/>
              </a:rPr>
              <a:t> </a:t>
            </a:r>
            <a:endParaRPr sz="1100" b="0" i="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892040" y="24231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Quand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423160"/>
            <a:ext cx="26517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CA" sz="1100" dirty="0">
                <a:solidFill>
                  <a:srgbClr val="2C2C2C"/>
                </a:solidFill>
                <a:latin typeface="Calibri"/>
              </a:rPr>
              <a:t>La page </a:t>
            </a:r>
            <a:r>
              <a:rPr lang="en-CA" sz="1100" dirty="0" err="1">
                <a:solidFill>
                  <a:srgbClr val="2C2C2C"/>
                </a:solidFill>
                <a:latin typeface="Calibri"/>
              </a:rPr>
              <a:t>est</a:t>
            </a:r>
            <a:r>
              <a:rPr lang="en-CA" sz="1100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100" dirty="0" err="1">
                <a:solidFill>
                  <a:srgbClr val="2C2C2C"/>
                </a:solidFill>
                <a:latin typeface="Calibri"/>
              </a:rPr>
              <a:t>affichée</a:t>
            </a:r>
            <a:endParaRPr sz="1100" b="0" i="0" dirty="0">
              <a:solidFill>
                <a:srgbClr val="2C2C2C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892040" y="32004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85042"/>
                </a:solidFill>
                <a:latin typeface="Calibri"/>
              </a:rPr>
              <a:t>Alors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0400"/>
            <a:ext cx="26517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2C2C2C"/>
                </a:solidFill>
                <a:latin typeface="Calibri"/>
              </a:rPr>
              <a:t>la date de </a:t>
            </a:r>
            <a:r>
              <a:rPr sz="1100" b="0" i="0" dirty="0" err="1">
                <a:solidFill>
                  <a:srgbClr val="2C2C2C"/>
                </a:solidFill>
                <a:latin typeface="Calibri"/>
              </a:rPr>
              <a:t>dernière</a:t>
            </a:r>
            <a:r>
              <a:rPr sz="1100" b="0" i="0" dirty="0">
                <a:solidFill>
                  <a:srgbClr val="2C2C2C"/>
                </a:solidFill>
                <a:latin typeface="Calibri"/>
              </a:rPr>
              <a:t> mise </a:t>
            </a:r>
            <a:r>
              <a:rPr sz="1100" b="0" i="0" dirty="0" err="1">
                <a:solidFill>
                  <a:srgbClr val="2C2C2C"/>
                </a:solidFill>
                <a:latin typeface="Calibri"/>
              </a:rPr>
              <a:t>à</a:t>
            </a:r>
            <a:r>
              <a:rPr sz="1100" b="0" i="0" dirty="0">
                <a:solidFill>
                  <a:srgbClr val="2C2C2C"/>
                </a:solidFill>
                <a:latin typeface="Calibri"/>
              </a:rPr>
              <a:t> jour </a:t>
            </a:r>
            <a:r>
              <a:rPr sz="1100" b="0" i="0" dirty="0" err="1">
                <a:solidFill>
                  <a:srgbClr val="2C2C2C"/>
                </a:solidFill>
                <a:latin typeface="Calibri"/>
              </a:rPr>
              <a:t>est</a:t>
            </a:r>
            <a:r>
              <a:rPr sz="1100" b="0" i="0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100" dirty="0">
                <a:solidFill>
                  <a:srgbClr val="2C2C2C"/>
                </a:solidFill>
                <a:latin typeface="Calibri"/>
              </a:rPr>
              <a:t>visible </a:t>
            </a:r>
          </a:p>
          <a:p>
            <a:pPr algn="l"/>
            <a:r>
              <a:rPr lang="en-CA" sz="1100" b="0" i="0" dirty="0">
                <a:solidFill>
                  <a:srgbClr val="2C2C2C"/>
                </a:solidFill>
                <a:latin typeface="Calibri"/>
              </a:rPr>
              <a:t>Et les </a:t>
            </a:r>
            <a:r>
              <a:rPr lang="en-CA" sz="1100" dirty="0" err="1">
                <a:solidFill>
                  <a:srgbClr val="2C2C2C"/>
                </a:solidFill>
                <a:latin typeface="Calibri"/>
              </a:rPr>
              <a:t>informations</a:t>
            </a:r>
            <a:r>
              <a:rPr lang="en-CA" sz="1100" dirty="0">
                <a:solidFill>
                  <a:srgbClr val="2C2C2C"/>
                </a:solidFill>
                <a:latin typeface="Calibri"/>
              </a:rPr>
              <a:t> </a:t>
            </a:r>
            <a:r>
              <a:rPr lang="en-CA" sz="1100" dirty="0" err="1">
                <a:solidFill>
                  <a:srgbClr val="2C2C2C"/>
                </a:solidFill>
                <a:latin typeface="Calibri"/>
              </a:rPr>
              <a:t>affichées</a:t>
            </a:r>
            <a:r>
              <a:rPr lang="en-CA" sz="1100" dirty="0">
                <a:solidFill>
                  <a:srgbClr val="2C2C2C"/>
                </a:solidFill>
                <a:latin typeface="Calibri"/>
              </a:rPr>
              <a:t> correspondent </a:t>
            </a:r>
            <a:r>
              <a:rPr lang="en-CA" sz="1100" dirty="0" err="1">
                <a:solidFill>
                  <a:srgbClr val="2C2C2C"/>
                </a:solidFill>
                <a:latin typeface="Calibri"/>
              </a:rPr>
              <a:t>à</a:t>
            </a:r>
            <a:r>
              <a:rPr lang="en-CA" sz="1100" dirty="0">
                <a:solidFill>
                  <a:srgbClr val="2C2C2C"/>
                </a:solidFill>
                <a:latin typeface="Calibri"/>
              </a:rPr>
              <a:t> la </a:t>
            </a:r>
            <a:r>
              <a:rPr lang="en-CA" sz="1100" dirty="0" err="1">
                <a:solidFill>
                  <a:srgbClr val="2C2C2C"/>
                </a:solidFill>
                <a:latin typeface="Calibri"/>
              </a:rPr>
              <a:t>denière</a:t>
            </a:r>
            <a:r>
              <a:rPr lang="en-CA" sz="1100" dirty="0">
                <a:solidFill>
                  <a:srgbClr val="2C2C2C"/>
                </a:solidFill>
                <a:latin typeface="Calibri"/>
              </a:rPr>
              <a:t> version </a:t>
            </a:r>
            <a:r>
              <a:rPr lang="en-CA" sz="1100" dirty="0" err="1">
                <a:solidFill>
                  <a:srgbClr val="2C2C2C"/>
                </a:solidFill>
                <a:latin typeface="Calibri"/>
              </a:rPr>
              <a:t>validée</a:t>
            </a:r>
            <a:r>
              <a:rPr lang="en-CA" sz="1100" dirty="0">
                <a:solidFill>
                  <a:srgbClr val="2C2C2C"/>
                </a:solidFill>
                <a:latin typeface="Calibri"/>
              </a:rPr>
              <a:t> par </a:t>
            </a:r>
            <a:r>
              <a:rPr lang="en-CA" sz="1100" dirty="0" err="1">
                <a:solidFill>
                  <a:srgbClr val="2C2C2C"/>
                </a:solidFill>
                <a:latin typeface="Calibri"/>
              </a:rPr>
              <a:t>l’administration</a:t>
            </a:r>
            <a:endParaRPr sz="1100" b="0" i="0" dirty="0">
              <a:solidFill>
                <a:srgbClr val="2C2C2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E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VALIDATION INVEST — US-JP1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7E8D1"/>
                </a:solidFill>
                <a:latin typeface="Calibri"/>
              </a:rPr>
              <a:t>6 critères · Mike Cohn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7432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19"/>
            <a:ext cx="50292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07007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21615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BEAE"/>
                </a:solidFill>
                <a:latin typeface="Calibri"/>
              </a:rPr>
              <a:t>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6479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Independent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1305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Développable sans dépendre d'un autre module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051560"/>
            <a:ext cx="27432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188719"/>
            <a:ext cx="50292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37560" y="1207007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21615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BEAE"/>
                </a:solidFill>
                <a:latin typeface="Calibri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6479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Negotiable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1305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Le format et le contenu peuvent évoluer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051560"/>
            <a:ext cx="27432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59" y="1188719"/>
            <a:ext cx="50292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59" y="1207007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1216151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BEAE"/>
                </a:solidFill>
                <a:latin typeface="Calibri"/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176479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Valuable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1305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Évite un voyage inutile depuis la province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88920"/>
            <a:ext cx="27432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2926079"/>
            <a:ext cx="50292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294436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295351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BEAE"/>
                </a:solidFill>
                <a:latin typeface="Calibri"/>
              </a:rP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5021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Estimable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867911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Page statique + gestion de contenu admin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2788920"/>
            <a:ext cx="27432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337560" y="2926079"/>
            <a:ext cx="50292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37560" y="294436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295351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BEAE"/>
                </a:solidFill>
                <a:latin typeface="Calibri"/>
              </a:rPr>
              <a:t>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35021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Small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37560" y="3867911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  <a:latin typeface="Calibri"/>
              </a:rPr>
              <a:t>Livrable en moins d'un sprint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2788920"/>
            <a:ext cx="27432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59" y="2926079"/>
            <a:ext cx="502920" cy="50292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09359" y="2944368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295351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7BEAE"/>
                </a:solidFill>
                <a:latin typeface="Calibri"/>
              </a:rPr>
              <a:t>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59" y="3502152"/>
            <a:ext cx="2514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2C2C"/>
                </a:solidFill>
                <a:latin typeface="Calibri"/>
              </a:rPr>
              <a:t>Testable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59" y="3867911"/>
            <a:ext cx="2514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6B6B6B"/>
                </a:solidFill>
                <a:latin typeface="Calibri"/>
              </a:rPr>
              <a:t>On </a:t>
            </a:r>
            <a:r>
              <a:rPr lang="en-CA" sz="1000" dirty="0" err="1">
                <a:solidFill>
                  <a:srgbClr val="6B6B6B"/>
                </a:solidFill>
                <a:latin typeface="Calibri"/>
              </a:rPr>
              <a:t>peut</a:t>
            </a:r>
            <a:r>
              <a:rPr lang="en-CA" sz="1000" dirty="0">
                <a:solidFill>
                  <a:srgbClr val="6B6B6B"/>
                </a:solidFill>
                <a:latin typeface="Calibri"/>
              </a:rPr>
              <a:t> verifier </a:t>
            </a:r>
            <a:r>
              <a:rPr lang="en-CA" sz="1000" dirty="0" err="1">
                <a:solidFill>
                  <a:srgbClr val="6B6B6B"/>
                </a:solidFill>
                <a:latin typeface="Calibri"/>
              </a:rPr>
              <a:t>si</a:t>
            </a:r>
            <a:r>
              <a:rPr lang="en-CA" sz="1000" dirty="0">
                <a:solidFill>
                  <a:srgbClr val="6B6B6B"/>
                </a:solidFill>
                <a:latin typeface="Calibri"/>
              </a:rPr>
              <a:t> les </a:t>
            </a:r>
            <a:r>
              <a:rPr lang="en-CA" sz="1000" dirty="0" err="1">
                <a:solidFill>
                  <a:srgbClr val="6B6B6B"/>
                </a:solidFill>
                <a:latin typeface="Calibri"/>
              </a:rPr>
              <a:t>informations</a:t>
            </a:r>
            <a:r>
              <a:rPr lang="en-CA" sz="1000" dirty="0">
                <a:solidFill>
                  <a:srgbClr val="6B6B6B"/>
                </a:solidFill>
                <a:latin typeface="Calibri"/>
              </a:rPr>
              <a:t> </a:t>
            </a:r>
            <a:r>
              <a:rPr lang="en-CA" sz="1000" dirty="0" err="1">
                <a:solidFill>
                  <a:srgbClr val="6B6B6B"/>
                </a:solidFill>
                <a:latin typeface="Calibri"/>
              </a:rPr>
              <a:t>sont</a:t>
            </a:r>
            <a:r>
              <a:rPr lang="en-CA" sz="1000" dirty="0">
                <a:solidFill>
                  <a:srgbClr val="6B6B6B"/>
                </a:solidFill>
                <a:latin typeface="Calibri"/>
              </a:rPr>
              <a:t> </a:t>
            </a:r>
            <a:r>
              <a:rPr lang="en-CA" sz="1000" dirty="0" err="1">
                <a:solidFill>
                  <a:srgbClr val="6B6B6B"/>
                </a:solidFill>
                <a:latin typeface="Calibri"/>
              </a:rPr>
              <a:t>visibles</a:t>
            </a:r>
            <a:r>
              <a:rPr lang="en-CA" sz="1000" dirty="0">
                <a:solidFill>
                  <a:srgbClr val="6B6B6B"/>
                </a:solidFill>
                <a:latin typeface="Calibri"/>
              </a:rPr>
              <a:t>, completes et </a:t>
            </a:r>
            <a:r>
              <a:rPr lang="en-CA" sz="1000" dirty="0" err="1">
                <a:solidFill>
                  <a:srgbClr val="6B6B6B"/>
                </a:solidFill>
                <a:latin typeface="Calibri"/>
              </a:rPr>
              <a:t>à</a:t>
            </a:r>
            <a:r>
              <a:rPr lang="en-CA" sz="1000" dirty="0">
                <a:solidFill>
                  <a:srgbClr val="6B6B6B"/>
                </a:solidFill>
                <a:latin typeface="Calibri"/>
              </a:rPr>
              <a:t> jour.</a:t>
            </a:r>
            <a:endParaRPr sz="1000" b="0" i="0" dirty="0">
              <a:solidFill>
                <a:srgbClr val="6B6B6B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2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3A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6400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Georgia"/>
              </a:rPr>
              <a:t>FDS </a:t>
            </a:r>
            <a:r>
              <a:rPr sz="3000" b="1" i="0" dirty="0" err="1">
                <a:solidFill>
                  <a:srgbClr val="FFFFFF"/>
                </a:solidFill>
                <a:latin typeface="Georgia"/>
              </a:rPr>
              <a:t>Portail</a:t>
            </a:r>
            <a:r>
              <a:rPr sz="3000" b="1" i="0" dirty="0">
                <a:solidFill>
                  <a:srgbClr val="FFFFFF"/>
                </a:solidFill>
                <a:latin typeface="Georgia"/>
              </a:rPr>
              <a:t> —</a:t>
            </a:r>
            <a:r>
              <a:rPr lang="en-CA" sz="3000" b="1" i="0" dirty="0">
                <a:solidFill>
                  <a:srgbClr val="FFFFFF"/>
                </a:solidFill>
                <a:latin typeface="Georgia"/>
              </a:rPr>
              <a:t> </a:t>
            </a:r>
            <a:r>
              <a:rPr lang="en-CA" sz="3000" b="1" i="0" dirty="0" err="1">
                <a:solidFill>
                  <a:srgbClr val="FFFFFF"/>
                </a:solidFill>
                <a:latin typeface="Georgia"/>
              </a:rPr>
              <a:t>Bravetech</a:t>
            </a:r>
            <a:endParaRPr sz="30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3840480" cy="3657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09728" cy="29260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E8D1"/>
                </a:solidFill>
                <a:latin typeface="Calibri"/>
              </a:rPr>
              <a:t>1 JTBD ancré dans la vie de Jean Pierre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109728" cy="29260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E8D1"/>
                </a:solidFill>
                <a:latin typeface="Calibri"/>
              </a:rPr>
              <a:t>3 User Stories indépendantes et testables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09728" cy="29260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E8D1"/>
                </a:solidFill>
                <a:latin typeface="Calibri"/>
              </a:rPr>
              <a:t>2 critères d'acceptation Gherkin précis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109728" cy="292608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2004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7E8D1"/>
                </a:solidFill>
                <a:latin typeface="Calibri"/>
              </a:rPr>
              <a:t>Grille INVEST validée pour US-JP1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6400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6B6B6B"/>
                </a:solidFill>
                <a:latin typeface="Calibri"/>
              </a:rPr>
              <a:t>GL-EN3-2026 · FDS </a:t>
            </a:r>
            <a:r>
              <a:rPr sz="1000" b="0" i="1" dirty="0" err="1">
                <a:solidFill>
                  <a:srgbClr val="6B6B6B"/>
                </a:solidFill>
                <a:latin typeface="Calibri"/>
              </a:rPr>
              <a:t>Portail</a:t>
            </a:r>
            <a:r>
              <a:rPr sz="1000" b="0" i="1" dirty="0">
                <a:solidFill>
                  <a:srgbClr val="6B6B6B"/>
                </a:solidFill>
                <a:latin typeface="Calibri"/>
              </a:rPr>
              <a:t> · </a:t>
            </a:r>
            <a:r>
              <a:rPr lang="en-CA" sz="1000" i="1" dirty="0" err="1">
                <a:solidFill>
                  <a:srgbClr val="6B6B6B"/>
                </a:solidFill>
                <a:latin typeface="Calibri"/>
              </a:rPr>
              <a:t>Bravetech</a:t>
            </a:r>
            <a:endParaRPr sz="1000" b="0" i="1" dirty="0">
              <a:solidFill>
                <a:srgbClr val="6B6B6B"/>
              </a:solidFill>
              <a:latin typeface="Calibri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DBA18BC-ABD4-C270-6858-CDAB9D718F60}"/>
              </a:ext>
            </a:extLst>
          </p:cNvPr>
          <p:cNvSpPr txBox="1"/>
          <p:nvPr/>
        </p:nvSpPr>
        <p:spPr>
          <a:xfrm>
            <a:off x="265988" y="3650655"/>
            <a:ext cx="9043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«</a:t>
            </a:r>
            <a:r>
              <a:rPr lang="fr-FR" b="1" dirty="0"/>
              <a:t> La valeur principale de cette fonctionnalité n’est pas d’afficher des</a:t>
            </a:r>
          </a:p>
          <a:p>
            <a:r>
              <a:rPr lang="fr-FR" b="1" dirty="0"/>
              <a:t> informations, mais de </a:t>
            </a:r>
            <a:r>
              <a:rPr lang="fr-FR" b="1" dirty="0" err="1"/>
              <a:t>reduire</a:t>
            </a:r>
            <a:r>
              <a:rPr lang="fr-FR" b="1" dirty="0"/>
              <a:t> l’</a:t>
            </a:r>
            <a:r>
              <a:rPr lang="fr-FR" b="1" dirty="0" err="1"/>
              <a:t>inceritude</a:t>
            </a:r>
            <a:r>
              <a:rPr lang="fr-FR" b="1" dirty="0"/>
              <a:t> et le risque d’</a:t>
            </a:r>
            <a:r>
              <a:rPr lang="fr-FR" b="1" dirty="0" err="1"/>
              <a:t>echec</a:t>
            </a:r>
            <a:r>
              <a:rPr lang="fr-FR" b="1" dirty="0"/>
              <a:t> pour le postulant 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550</Words>
  <Application>Microsoft Macintosh PowerPoint</Application>
  <PresentationFormat>Affichage à l'écran (16:9)</PresentationFormat>
  <Paragraphs>93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2026-04-27T15:34:45Z</dcterms:modified>
  <cp:category/>
</cp:coreProperties>
</file>